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9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A877"/>
    <a:srgbClr val="42A5F5"/>
    <a:srgbClr val="103D79"/>
    <a:srgbClr val="FF8F00"/>
    <a:srgbClr val="2E7D32"/>
    <a:srgbClr val="F0F4FA"/>
    <a:srgbClr val="1565C0"/>
    <a:srgbClr val="C62828"/>
    <a:srgbClr val="A62AA6"/>
    <a:srgbClr val="CE3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58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9116-1A30-B97F-832A-9F2A6DFC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F8AF7-7659-C414-8C55-1B7BD833E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7F930-9B7B-91A9-FED2-F6AECF9AE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6F9B8-6D7A-B93F-6FE9-607C31360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7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B72B-A663-1A4D-C4EB-B9221767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14304-7F7D-D8F5-993C-BF9082023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7E346-A7EA-9A0D-C8FA-B2A299AD3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E94A5-1827-1960-B9A2-DA7866E39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98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"/>
            <a:ext cx="3291840" cy="530352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03D79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-91440"/>
            <a:ext cx="1737360" cy="5303520"/>
          </a:xfrm>
          <a:prstGeom prst="rect">
            <a:avLst/>
          </a:prstGeom>
          <a:solidFill>
            <a:srgbClr val="42A5F5">
              <a:alpha val="3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42A5F5">
              <a:alpha val="3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272845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</a:rPr>
              <a:t>✈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42A5F5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AIRLINE PASSENGER</a:t>
            </a:r>
            <a:endParaRPr lang="en-US" sz="13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00596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gency FB" panose="020B0503020202020204" pitchFamily="34" charset="0"/>
              </a:rPr>
              <a:t>Satisfaction Analysis</a:t>
            </a:r>
            <a:endParaRPr lang="en-US" sz="3800" dirty="0">
              <a:latin typeface="Agency FB" panose="020B05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Consolas" panose="020B0609020204030204" pitchFamily="49" charset="0"/>
              </a:rPr>
              <a:t>Recep Efkan Aykıner</a:t>
            </a:r>
            <a:endParaRPr lang="en-US" sz="9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Consolas" panose="020B0609020204030204" pitchFamily="49" charset="0"/>
              </a:rPr>
              <a:t>MIS24102E – Programming and Algorithms II  |  Prof. Dr. Fatih Erdoğan Sevilgen</a:t>
            </a:r>
            <a:endParaRPr lang="en-US" sz="9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3000" b="1" dirty="0" err="1">
                <a:solidFill>
                  <a:srgbClr val="0D1B3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Process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400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65C0"/>
                </a:solidFill>
                <a:latin typeface="Consolas" panose="020B0609020204030204" pitchFamily="49" charset="0"/>
              </a:rPr>
              <a:t>1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anose="020B0609020204030204" pitchFamily="49" charset="0"/>
              </a:rPr>
              <a:t>Dataset Overview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A4AE"/>
                </a:solidFill>
                <a:latin typeface="Montserrat Medium" panose="00000600000000000000" pitchFamily="2" charset="-94"/>
              </a:rPr>
              <a:t>What data we used and why it matters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64008" cy="1371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4992" y="1207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2A5F5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64992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anose="020B0609020204030204" pitchFamily="49" charset="0"/>
              </a:rPr>
              <a:t>Methodology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64992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A4AE"/>
                </a:solidFill>
                <a:latin typeface="Montserrat Medium" panose="00000600000000000000" pitchFamily="2" charset="-94"/>
              </a:rPr>
              <a:t>Data cleaning, Pandas &amp; NumPy operations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64008" cy="13716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207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8F00"/>
                </a:solidFill>
                <a:latin typeface="Consolas" panose="020B0609020204030204" pitchFamily="49" charset="0"/>
              </a:rPr>
              <a:t>3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anose="020B0609020204030204" pitchFamily="49" charset="0"/>
              </a:rPr>
              <a:t>Key Findings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99632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A4AE"/>
                </a:solidFill>
                <a:latin typeface="Montserrat Medium" panose="00000600000000000000" pitchFamily="2" charset="-94"/>
              </a:rPr>
              <a:t>5 visualizations with business insights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64008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852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D32"/>
                </a:solidFill>
                <a:latin typeface="Consolas" panose="020B0609020204030204" pitchFamily="49" charset="0"/>
              </a:rPr>
              <a:t>4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1B3E"/>
                </a:solidFill>
                <a:latin typeface="Consolas" panose="020B0609020204030204" pitchFamily="49" charset="0"/>
              </a:rPr>
              <a:t>Recommendations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0352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0A4AE"/>
                </a:solidFill>
                <a:latin typeface="Montserrat Medium" panose="00000600000000000000" pitchFamily="2" charset="-94"/>
              </a:rPr>
              <a:t>Actionable steps for management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 |  Dataset Overview</a:t>
            </a:r>
            <a:endParaRPr lang="en-US" sz="2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Consolas" panose="020B0609020204030204" pitchFamily="49" charset="0"/>
              </a:rPr>
              <a:t>Source &amp; Structure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" cy="36576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68956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Source: Kaggle – Airline Passenger Satisfaction dataset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Cleaned dataset: 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103,594 passenger records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Montserrat Medium" panose="00000600000000000000" pitchFamily="2" charset="-9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199" y="2414016"/>
            <a:ext cx="485938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Each row represents one passenger’s flight experience </a:t>
            </a:r>
          </a:p>
        </p:txBody>
      </p:sp>
      <p:sp>
        <p:nvSpPr>
          <p:cNvPr id="9" name="Text 7"/>
          <p:cNvSpPr/>
          <p:nvPr/>
        </p:nvSpPr>
        <p:spPr>
          <a:xfrm>
            <a:off x="457199" y="2798064"/>
            <a:ext cx="490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  <a:t>Main goal: understand what affects passenger satisfaction </a:t>
            </a:r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182880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Consolas" panose="020B0609020204030204" pitchFamily="49" charset="0"/>
              </a:rPr>
              <a:t>103,594</a:t>
            </a:r>
            <a:endParaRPr lang="en-US" sz="2600" dirty="0">
              <a:latin typeface="Consolas" panose="020B06090202040302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1847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Cleaned passengers</a:t>
            </a:r>
          </a:p>
        </p:txBody>
      </p:sp>
      <p:sp>
        <p:nvSpPr>
          <p:cNvPr id="13" name="Shape 11"/>
          <p:cNvSpPr/>
          <p:nvPr/>
        </p:nvSpPr>
        <p:spPr>
          <a:xfrm>
            <a:off x="6949440" y="1097280"/>
            <a:ext cx="182880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234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2A5F5"/>
                </a:solidFill>
                <a:latin typeface="Consolas" panose="020B0609020204030204" pitchFamily="49" charset="0"/>
              </a:rPr>
              <a:t>2</a:t>
            </a:r>
            <a:r>
              <a:rPr lang="tr-TR" sz="2600" b="1" dirty="0">
                <a:solidFill>
                  <a:srgbClr val="42A5F5"/>
                </a:solidFill>
                <a:latin typeface="Consolas" panose="020B0609020204030204" pitchFamily="49" charset="0"/>
              </a:rPr>
              <a:t>4</a:t>
            </a:r>
            <a:endParaRPr lang="en-US" sz="2600" dirty="0">
              <a:latin typeface="Consolas" panose="020B06090202040302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1847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Columns after cleaning</a:t>
            </a:r>
          </a:p>
        </p:txBody>
      </p:sp>
      <p:sp>
        <p:nvSpPr>
          <p:cNvPr id="16" name="Shape 14"/>
          <p:cNvSpPr/>
          <p:nvPr/>
        </p:nvSpPr>
        <p:spPr>
          <a:xfrm>
            <a:off x="4937760" y="2514600"/>
            <a:ext cx="182880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F00"/>
                </a:solidFill>
                <a:latin typeface="Consolas" panose="020B0609020204030204" pitchFamily="49" charset="0"/>
              </a:rPr>
              <a:t>5</a:t>
            </a:r>
            <a:endParaRPr lang="en-US" sz="2600" dirty="0">
              <a:latin typeface="Consolas" panose="020B0609020204030204" pitchFamily="49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32644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Main categorical variables</a:t>
            </a:r>
          </a:p>
        </p:txBody>
      </p:sp>
      <p:sp>
        <p:nvSpPr>
          <p:cNvPr id="19" name="Shape 17"/>
          <p:cNvSpPr/>
          <p:nvPr/>
        </p:nvSpPr>
        <p:spPr>
          <a:xfrm>
            <a:off x="6949440" y="2514600"/>
            <a:ext cx="182880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onsolas" panose="020B0609020204030204" pitchFamily="49" charset="0"/>
              </a:rPr>
              <a:t>10+</a:t>
            </a:r>
            <a:endParaRPr lang="en-US" sz="2600" dirty="0">
              <a:latin typeface="Consolas" panose="020B0609020204030204" pitchFamily="49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2644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-94"/>
              </a:rPr>
              <a:t>Main numerical variables</a:t>
            </a:r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onsolas" panose="020B0609020204030204" pitchFamily="49" charset="0"/>
              </a:rPr>
              <a:t>Key Variables: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58" y="3807149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| Categorical: Gender, Customer Type, Type of Travel, Class, Satisfaction  </a:t>
            </a:r>
            <a:endParaRPr lang="tr-TR" sz="95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95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| Numerical: Age, Flight Distance, Departure/Arrival Delay, Online Boarding, Seat Comfort, Inflight Entertainment, Cleanliness…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69593FF-79D8-CD58-6F48-77C6D3798BAC}"/>
              </a:ext>
            </a:extLst>
          </p:cNvPr>
          <p:cNvSpPr/>
          <p:nvPr/>
        </p:nvSpPr>
        <p:spPr>
          <a:xfrm>
            <a:off x="365760" y="423957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b="1" dirty="0" err="1">
                <a:solidFill>
                  <a:srgbClr val="0D1B3E"/>
                </a:solidFill>
                <a:latin typeface="Consolas" panose="020B0609020204030204" pitchFamily="49" charset="0"/>
              </a:rPr>
              <a:t>Target</a:t>
            </a:r>
            <a:r>
              <a:rPr lang="en-US" sz="1100" b="1" dirty="0">
                <a:solidFill>
                  <a:srgbClr val="0D1B3E"/>
                </a:solidFill>
                <a:latin typeface="Consolas" panose="020B0609020204030204" pitchFamily="49" charset="0"/>
              </a:rPr>
              <a:t> Variable: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3CDA0D38-EA72-F5DB-F9E1-678EAB8869FF}"/>
              </a:ext>
            </a:extLst>
          </p:cNvPr>
          <p:cNvSpPr/>
          <p:nvPr/>
        </p:nvSpPr>
        <p:spPr>
          <a:xfrm>
            <a:off x="365758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| </a:t>
            </a:r>
            <a:r>
              <a:rPr lang="en-US" sz="1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satisfied / neutral or dissatisfied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  |  Methodology</a:t>
            </a:r>
            <a:endParaRPr lang="en-US" sz="2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013031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49" charset="0"/>
              </a:rPr>
              <a:t>Data </a:t>
            </a:r>
            <a:r>
              <a:rPr lang="en-US" sz="1100" b="1" dirty="0" err="1">
                <a:solidFill>
                  <a:srgbClr val="FFFFFF"/>
                </a:solidFill>
                <a:latin typeface="Consolas" panose="020B0609020204030204" pitchFamily="49" charset="0"/>
              </a:rPr>
              <a:t>Cleanin</a:t>
            </a:r>
            <a:r>
              <a:rPr lang="tr-TR" sz="1100" b="1" dirty="0">
                <a:solidFill>
                  <a:srgbClr val="FFFFFF"/>
                </a:solidFill>
                <a:latin typeface="Consolas" panose="020B0609020204030204" pitchFamily="49" charset="0"/>
              </a:rPr>
              <a:t>g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468880" cy="1623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4414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2013031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49" charset="0"/>
              </a:rPr>
              <a:t>Feature Engineering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743200" cy="2013031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7432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49" charset="0"/>
              </a:rPr>
              <a:t>Analysis &amp; Visualization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36208" y="1828800"/>
            <a:ext cx="2468880" cy="1623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4414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559C4F-DFCF-BAFD-7545-158A67EF7C3C}"/>
              </a:ext>
            </a:extLst>
          </p:cNvPr>
          <p:cNvSpPr txBox="1"/>
          <p:nvPr/>
        </p:nvSpPr>
        <p:spPr>
          <a:xfrm>
            <a:off x="3200400" y="1709928"/>
            <a:ext cx="2743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Montserrat Medium" panose="00000600000000000000" pitchFamily="2" charset="-94"/>
              </a:rPr>
              <a:t>Satisfied Flag with </a:t>
            </a:r>
            <a:r>
              <a:rPr lang="en-US" sz="800" dirty="0" err="1">
                <a:solidFill>
                  <a:srgbClr val="2C3E50"/>
                </a:solidFill>
                <a:latin typeface="Montserrat Medium" panose="00000600000000000000" pitchFamily="2" charset="-94"/>
              </a:rPr>
              <a:t>np.where</a:t>
            </a:r>
            <a:r>
              <a:rPr lang="en-US" sz="800" dirty="0">
                <a:solidFill>
                  <a:srgbClr val="2C3E50"/>
                </a:solidFill>
                <a:latin typeface="Montserrat Medium" panose="00000600000000000000" pitchFamily="2" charset="-94"/>
              </a:rPr>
              <a:t>()</a:t>
            </a:r>
            <a:endParaRPr lang="tr-TR" sz="8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800" dirty="0">
                <a:solidFill>
                  <a:srgbClr val="2C3E50"/>
                </a:solidFill>
                <a:latin typeface="Montserrat Medium" panose="00000600000000000000" pitchFamily="2" charset="-94"/>
              </a:rPr>
              <a:t>Delay Category (no/small/medium/long)</a:t>
            </a:r>
            <a:endParaRPr lang="tr-TR" sz="8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800" dirty="0">
                <a:solidFill>
                  <a:srgbClr val="2C3E50"/>
                </a:solidFill>
                <a:latin typeface="Montserrat Medium" panose="00000600000000000000" pitchFamily="2" charset="-94"/>
              </a:rPr>
              <a:t>Distance Category (short/medium/long)</a:t>
            </a:r>
            <a:endParaRPr lang="tr-TR" sz="8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800" dirty="0">
                <a:solidFill>
                  <a:srgbClr val="2C3E50"/>
                </a:solidFill>
                <a:latin typeface="Montserrat Medium" panose="00000600000000000000" pitchFamily="2" charset="-94"/>
              </a:rPr>
              <a:t>Average Service Score (mean of rating cols)</a:t>
            </a:r>
            <a:endParaRPr lang="en-US" sz="800" dirty="0">
              <a:latin typeface="Montserrat Medium" panose="00000600000000000000" pitchFamily="2" charset="-94"/>
            </a:endParaRPr>
          </a:p>
          <a:p>
            <a:endParaRPr lang="en-US" sz="800" dirty="0">
              <a:latin typeface="Montserrat Medium" panose="00000600000000000000" pitchFamily="2" charset="-9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7B2659-BFC5-CDF2-F87F-8345AC65F6DA}"/>
              </a:ext>
            </a:extLst>
          </p:cNvPr>
          <p:cNvSpPr txBox="1"/>
          <p:nvPr/>
        </p:nvSpPr>
        <p:spPr>
          <a:xfrm>
            <a:off x="6126480" y="1691640"/>
            <a:ext cx="2743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900" dirty="0" err="1">
                <a:solidFill>
                  <a:srgbClr val="2C3E50"/>
                </a:solidFill>
                <a:latin typeface="Montserrat Medium" panose="00000600000000000000" pitchFamily="2" charset="-94"/>
              </a:rPr>
              <a:t>groupby</a:t>
            </a: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() by class, delay, distance, age</a:t>
            </a:r>
            <a:endParaRPr lang="tr-TR" sz="9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 err="1">
                <a:solidFill>
                  <a:srgbClr val="2C3E50"/>
                </a:solidFill>
                <a:latin typeface="Montserrat Medium" panose="00000600000000000000" pitchFamily="2" charset="-94"/>
              </a:rPr>
              <a:t>pd.crosstab</a:t>
            </a: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() for category comparisons</a:t>
            </a:r>
            <a:endParaRPr lang="tr-TR" sz="9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 err="1">
                <a:solidFill>
                  <a:srgbClr val="2C3E50"/>
                </a:solidFill>
                <a:latin typeface="Montserrat Medium" panose="00000600000000000000" pitchFamily="2" charset="-94"/>
              </a:rPr>
              <a:t>corr</a:t>
            </a: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() for correlation heatmap</a:t>
            </a:r>
            <a:endParaRPr lang="en-US" sz="900" dirty="0"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Matplotlib for all charts</a:t>
            </a:r>
            <a:endParaRPr lang="en-US" sz="900" dirty="0">
              <a:latin typeface="Montserrat Medium" panose="00000600000000000000" pitchFamily="2" charset="-94"/>
            </a:endParaRPr>
          </a:p>
          <a:p>
            <a:pPr>
              <a:buSzPct val="100000"/>
            </a:pPr>
            <a:endParaRPr lang="en-US" sz="900" dirty="0">
              <a:latin typeface="Montserrat Medium" panose="00000600000000000000" pitchFamily="2" charset="-9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18910A-3F30-FC74-765B-74FF3FDFF3D5}"/>
              </a:ext>
            </a:extLst>
          </p:cNvPr>
          <p:cNvSpPr txBox="1"/>
          <p:nvPr/>
        </p:nvSpPr>
        <p:spPr>
          <a:xfrm>
            <a:off x="274320" y="1688637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Removed unnecessary index column</a:t>
            </a:r>
            <a:endParaRPr lang="tr-TR" sz="9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Dropped rows with missing values in Arrival Delay</a:t>
            </a:r>
            <a:endParaRPr lang="en-US" sz="900" dirty="0"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Checked for duplicate rows</a:t>
            </a:r>
            <a:endParaRPr lang="tr-TR" sz="900" dirty="0">
              <a:solidFill>
                <a:srgbClr val="2C3E50"/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900" dirty="0">
                <a:solidFill>
                  <a:srgbClr val="2C3E50"/>
                </a:solidFill>
                <a:latin typeface="Montserrat Medium" panose="00000600000000000000" pitchFamily="2" charset="-94"/>
              </a:rPr>
              <a:t>Verified correct data types</a:t>
            </a:r>
            <a:endParaRPr lang="en-US" sz="900" dirty="0">
              <a:latin typeface="Montserrat Medium" panose="00000600000000000000" pitchFamily="2" charset="-94"/>
            </a:endParaRPr>
          </a:p>
          <a:p>
            <a:pPr>
              <a:buSzPct val="100000"/>
            </a:pPr>
            <a:endParaRPr lang="en-US" sz="900" dirty="0">
              <a:latin typeface="Montserrat Medium" panose="00000600000000000000" pitchFamily="2" charset="-94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BEA58D7-DDEC-C034-AA99-5B782CA7045F}"/>
              </a:ext>
            </a:extLst>
          </p:cNvPr>
          <p:cNvSpPr/>
          <p:nvPr/>
        </p:nvSpPr>
        <p:spPr>
          <a:xfrm>
            <a:off x="246888" y="3451860"/>
            <a:ext cx="2743200" cy="1421674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EA0FA9-7DD8-E06C-4215-BF230CE77027}"/>
              </a:ext>
            </a:extLst>
          </p:cNvPr>
          <p:cNvSpPr txBox="1"/>
          <p:nvPr/>
        </p:nvSpPr>
        <p:spPr>
          <a:xfrm>
            <a:off x="260604" y="3505744"/>
            <a:ext cx="2715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df.drop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("Unnamed: 0", axis=1</a:t>
            </a:r>
            <a:r>
              <a:rPr lang="tr-TR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tr-TR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inplace</a:t>
            </a:r>
            <a:r>
              <a:rPr lang="tr-TR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=True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df.dropna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endParaRPr lang="tr-TR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rgbClr val="86A877"/>
                </a:solidFill>
                <a:latin typeface="Consolas" panose="020B0609020204030204" pitchFamily="49" charset="0"/>
              </a:rPr>
              <a:t>df.duplicated</a:t>
            </a:r>
            <a:r>
              <a:rPr lang="en-US" sz="800" dirty="0">
                <a:solidFill>
                  <a:srgbClr val="86A877"/>
                </a:solidFill>
                <a:latin typeface="Consolas" panose="020B0609020204030204" pitchFamily="49" charset="0"/>
              </a:rPr>
              <a:t>().sum()</a:t>
            </a:r>
            <a:br>
              <a:rPr lang="en-US" sz="800" dirty="0">
                <a:solidFill>
                  <a:srgbClr val="86A877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86A877"/>
              </a:solidFill>
              <a:latin typeface="Consolas" panose="020B0609020204030204" pitchFamily="49" charset="0"/>
            </a:endParaRP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F6ECB821-2318-D0EB-C57F-BCF01C4F48A7}"/>
              </a:ext>
            </a:extLst>
          </p:cNvPr>
          <p:cNvSpPr/>
          <p:nvPr/>
        </p:nvSpPr>
        <p:spPr>
          <a:xfrm>
            <a:off x="3200400" y="3451860"/>
            <a:ext cx="2743200" cy="1421674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2E872-0D1C-4D33-D9B5-637C0EB42C70}"/>
              </a:ext>
            </a:extLst>
          </p:cNvPr>
          <p:cNvSpPr txBox="1"/>
          <p:nvPr/>
        </p:nvSpPr>
        <p:spPr>
          <a:xfrm>
            <a:off x="3214116" y="3505744"/>
            <a:ext cx="2715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["Satisfied Flag"] =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np.where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["satisfaction"] == "satisfied", 1, 0</a:t>
            </a:r>
          </a:p>
          <a:p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["Delay Category"] =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np.select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conditions, choices, default="Unknown"</a:t>
            </a:r>
          </a:p>
          <a:p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C3B129CB-2AC2-72A3-C210-8FCD59D1188B}"/>
              </a:ext>
            </a:extLst>
          </p:cNvPr>
          <p:cNvSpPr/>
          <p:nvPr/>
        </p:nvSpPr>
        <p:spPr>
          <a:xfrm>
            <a:off x="6126480" y="3451860"/>
            <a:ext cx="2743200" cy="1421674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49C372-1D5B-E591-40D5-497007EEC28A}"/>
              </a:ext>
            </a:extLst>
          </p:cNvPr>
          <p:cNvSpPr txBox="1"/>
          <p:nvPr/>
        </p:nvSpPr>
        <p:spPr>
          <a:xfrm>
            <a:off x="6140196" y="3505744"/>
            <a:ext cx="27157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class_satisfaction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df.groupby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("Class")["Satisfied Flag"].mean() * 100</a:t>
            </a: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pd.crosstab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["Distance Category"],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["Class"])</a:t>
            </a: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correlation_matrix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df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selected_numeric_cols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].</a:t>
            </a:r>
            <a:r>
              <a:rPr lang="en-US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corr</a:t>
            </a:r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()</a:t>
            </a:r>
            <a:endParaRPr lang="tr-TR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tr-TR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E3BCE"/>
          </a:solidFill>
          <a:ln w="12700">
            <a:solidFill>
              <a:srgbClr val="A62A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1: Overall Satisfaction Rate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12080" y="1051560"/>
            <a:ext cx="365760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94960" y="1097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8F00"/>
                </a:solidFill>
                <a:latin typeface="Consolas" panose="020B0609020204030204" pitchFamily="49" charset="0"/>
              </a:rPr>
              <a:t>43.3%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949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Montserrat Medium" panose="00000600000000000000" pitchFamily="2" charset="-94"/>
              </a:rPr>
              <a:t>of passengers are satisfied</a:t>
            </a:r>
            <a:endParaRPr lang="en-US" sz="1100" dirty="0">
              <a:latin typeface="Montserrat Medium" panose="00000600000000000000" pitchFamily="2" charset="-9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2080" y="2377440"/>
            <a:ext cx="3657600" cy="1280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0" y="2423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onsolas" panose="020B0609020204030204" pitchFamily="49" charset="0"/>
              </a:rPr>
              <a:t>56.7%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9496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Montserrat Medium" panose="00000600000000000000" pitchFamily="2" charset="-94"/>
              </a:rPr>
              <a:t>neutral or dissatisfied</a:t>
            </a:r>
            <a:endParaRPr lang="en-US" sz="1100" dirty="0">
              <a:latin typeface="Montserrat Medium" panose="00000600000000000000" pitchFamily="2" charset="-9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12080" y="3794760"/>
            <a:ext cx="365760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492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F00"/>
                </a:solidFill>
                <a:latin typeface="Consolas" panose="020B0609020204030204" pitchFamily="49" charset="0"/>
              </a:rPr>
              <a:t>Business Insight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4924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The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airline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has a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customer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satisfaction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problem.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Improving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passenger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experience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should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be a top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priority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because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more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than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half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of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passengers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are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 not </a:t>
            </a:r>
            <a:r>
              <a:rPr lang="tr-TR" sz="1000" dirty="0" err="1">
                <a:solidFill>
                  <a:srgbClr val="5D4037"/>
                </a:solidFill>
                <a:latin typeface="Montserrat Medium" panose="00000600000000000000" pitchFamily="2" charset="-94"/>
              </a:rPr>
              <a:t>satisfied</a:t>
            </a:r>
            <a:r>
              <a:rPr lang="tr-TR" sz="1000" dirty="0">
                <a:solidFill>
                  <a:srgbClr val="5D4037"/>
                </a:solidFill>
                <a:latin typeface="Montserrat Medium" panose="00000600000000000000" pitchFamily="2" charset="-94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FABE00-9EBA-C162-D9D3-0F646B2B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5" t="7711" r="5470" b="15723"/>
          <a:stretch>
            <a:fillRect/>
          </a:stretch>
        </p:blipFill>
        <p:spPr>
          <a:xfrm>
            <a:off x="62048" y="1007994"/>
            <a:ext cx="5081452" cy="3701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3C39-EE40-3C31-6A74-4BC3DCE6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AEC566-9970-79EF-BF17-FC51774D52E4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000"/>
          </a:solidFill>
          <a:ln w="1270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1A39C3-1F42-376B-DE5F-8B0251A5D8CC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2: Satisfaction by Travel Class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61D236AC-8840-9C4F-577D-603EFE2EBF2C}"/>
              </a:ext>
            </a:extLst>
          </p:cNvPr>
          <p:cNvSpPr/>
          <p:nvPr/>
        </p:nvSpPr>
        <p:spPr>
          <a:xfrm>
            <a:off x="5212080" y="3794760"/>
            <a:ext cx="365760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399C447-C0F1-0520-4EDC-2C701FB46CD2}"/>
              </a:ext>
            </a:extLst>
          </p:cNvPr>
          <p:cNvSpPr/>
          <p:nvPr/>
        </p:nvSpPr>
        <p:spPr>
          <a:xfrm>
            <a:off x="5212080" y="1051560"/>
            <a:ext cx="365760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83E4D0D-A206-D583-FB50-6BD1E5196E6D}"/>
              </a:ext>
            </a:extLst>
          </p:cNvPr>
          <p:cNvSpPr/>
          <p:nvPr/>
        </p:nvSpPr>
        <p:spPr>
          <a:xfrm>
            <a:off x="5394960" y="1097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2E7D32"/>
                </a:solidFill>
                <a:latin typeface="Consolas" panose="020B0609020204030204" pitchFamily="49" charset="0"/>
              </a:rPr>
              <a:t>69.4%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8118F47-D868-4C5B-C46D-F26B103E406F}"/>
              </a:ext>
            </a:extLst>
          </p:cNvPr>
          <p:cNvSpPr/>
          <p:nvPr/>
        </p:nvSpPr>
        <p:spPr>
          <a:xfrm>
            <a:off x="53949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Consolas" panose="020B0609020204030204" pitchFamily="49" charset="0"/>
              </a:rPr>
              <a:t>Business Class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6732300-8CA4-0440-32A8-568BF4A3A516}"/>
              </a:ext>
            </a:extLst>
          </p:cNvPr>
          <p:cNvSpPr/>
          <p:nvPr/>
        </p:nvSpPr>
        <p:spPr>
          <a:xfrm>
            <a:off x="5212080" y="2377440"/>
            <a:ext cx="3657600" cy="1280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39EE3B5-43BB-E907-8D3E-C94C823B9338}"/>
              </a:ext>
            </a:extLst>
          </p:cNvPr>
          <p:cNvSpPr/>
          <p:nvPr/>
        </p:nvSpPr>
        <p:spPr>
          <a:xfrm>
            <a:off x="5394960" y="2423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C62828"/>
                </a:solidFill>
                <a:latin typeface="Consolas" panose="020B0609020204030204" pitchFamily="49" charset="0"/>
              </a:rPr>
              <a:t>18.6%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1828C79-5C75-184D-EC93-3C1EB3745D97}"/>
              </a:ext>
            </a:extLst>
          </p:cNvPr>
          <p:cNvSpPr/>
          <p:nvPr/>
        </p:nvSpPr>
        <p:spPr>
          <a:xfrm>
            <a:off x="539496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Consolas" panose="020B0609020204030204" pitchFamily="49" charset="0"/>
              </a:rPr>
              <a:t>Economy Class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8499AE-A20A-7B0E-034B-EA29935BA649}"/>
              </a:ext>
            </a:extLst>
          </p:cNvPr>
          <p:cNvSpPr/>
          <p:nvPr/>
        </p:nvSpPr>
        <p:spPr>
          <a:xfrm>
            <a:off x="53492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E7D32"/>
                </a:solidFill>
                <a:latin typeface="Consolas" panose="020B0609020204030204" pitchFamily="49" charset="0"/>
              </a:rPr>
              <a:t>Key Takeaway</a:t>
            </a:r>
            <a:endParaRPr lang="en-US" sz="1000" dirty="0">
              <a:solidFill>
                <a:srgbClr val="2E7D3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A93900F-7ACF-4F1F-FB4E-F5BB7B055502}"/>
              </a:ext>
            </a:extLst>
          </p:cNvPr>
          <p:cNvSpPr/>
          <p:nvPr/>
        </p:nvSpPr>
        <p:spPr>
          <a:xfrm>
            <a:off x="534924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E7D32"/>
                </a:solidFill>
                <a:latin typeface="Montserrat Medium" panose="00000600000000000000" pitchFamily="2" charset="-94"/>
              </a:rPr>
              <a:t>Business Class is strong, but Economy needs improvement. Raising Economy satisfaction can increase the airline’s overall satisfaction rate.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4188D0-BC29-4548-676A-4DE3BC284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57" t="6982" r="9302"/>
          <a:stretch>
            <a:fillRect/>
          </a:stretch>
        </p:blipFill>
        <p:spPr>
          <a:xfrm>
            <a:off x="117566" y="1051560"/>
            <a:ext cx="4911633" cy="3749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E53A52-A7E5-204C-0904-DAE60690425C}"/>
              </a:ext>
            </a:extLst>
          </p:cNvPr>
          <p:cNvSpPr txBox="1"/>
          <p:nvPr/>
        </p:nvSpPr>
        <p:spPr>
          <a:xfrm>
            <a:off x="6167884" y="1928745"/>
            <a:ext cx="2182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rgbClr val="90A4AE"/>
                </a:solidFill>
                <a:latin typeface="Montserrat Light" panose="00000400000000000000" pitchFamily="2" charset="-94"/>
              </a:rPr>
              <a:t>Premium service drives loyalty</a:t>
            </a:r>
            <a:endParaRPr lang="en-US" sz="1000" dirty="0">
              <a:latin typeface="Montserrat Light" panose="00000400000000000000" pitchFamily="2" charset="-9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0FCFC-B53C-2474-FCEC-F11E608B8851}"/>
              </a:ext>
            </a:extLst>
          </p:cNvPr>
          <p:cNvSpPr txBox="1"/>
          <p:nvPr/>
        </p:nvSpPr>
        <p:spPr>
          <a:xfrm>
            <a:off x="5808010" y="3260169"/>
            <a:ext cx="24657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solidFill>
                  <a:srgbClr val="90A4AE"/>
                </a:solidFill>
                <a:latin typeface="Montserrat Light" panose="00000400000000000000" pitchFamily="2" charset="-94"/>
              </a:rPr>
              <a:t>The biggest opportunity to improve</a:t>
            </a:r>
            <a:endParaRPr lang="en-US" sz="1000" dirty="0">
              <a:latin typeface="Montserrat Light" panose="00000400000000000000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68325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08000"/>
          </a:solidFill>
          <a:ln w="12700">
            <a:solidFill>
              <a:srgbClr val="5A5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3: Which Services Drive Satisfaction?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29400" y="1005840"/>
            <a:ext cx="2286000" cy="320040"/>
          </a:xfrm>
          <a:prstGeom prst="rect">
            <a:avLst/>
          </a:prstGeom>
          <a:solidFill>
            <a:srgbClr val="808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PRIORITY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629400" y="1325880"/>
            <a:ext cx="228600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</a:rPr>
              <a:t>#1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59168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anose="020B0609020204030204" pitchFamily="49" charset="0"/>
              </a:rPr>
              <a:t>Online Boarding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59168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Montserrat Medium" panose="00000600000000000000" pitchFamily="2" charset="-94"/>
              </a:rPr>
              <a:t>+1.37 pts gap</a:t>
            </a:r>
            <a:endParaRPr lang="en-US" sz="1000" dirty="0">
              <a:latin typeface="Montserrat Medium" panose="00000600000000000000" pitchFamily="2" charset="-9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2331720"/>
            <a:ext cx="228600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F00"/>
                </a:solidFill>
              </a:rPr>
              <a:t>#2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59168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anose="020B0609020204030204" pitchFamily="49" charset="0"/>
              </a:rPr>
              <a:t>Inflight Entertainment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59168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F00"/>
                </a:solidFill>
                <a:latin typeface="Montserrat Medium" panose="00000600000000000000" pitchFamily="2" charset="-94"/>
              </a:rPr>
              <a:t>+1.07 pts gap</a:t>
            </a:r>
            <a:endParaRPr lang="en-US" sz="1000" dirty="0">
              <a:latin typeface="Montserrat Medium" panose="00000600000000000000" pitchFamily="2" charset="-9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9400" y="3337560"/>
            <a:ext cx="228600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</a:rPr>
              <a:t>#3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59168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anose="020B0609020204030204" pitchFamily="49" charset="0"/>
              </a:rPr>
              <a:t>Seat Comfort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59168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Montserrat Medium" panose="00000600000000000000" pitchFamily="2" charset="-94"/>
              </a:rPr>
              <a:t>+0.93 pts gap</a:t>
            </a:r>
            <a:endParaRPr lang="en-US" sz="1000" dirty="0">
              <a:latin typeface="Montserrat Medium" panose="00000600000000000000" pitchFamily="2" charset="-9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29400" y="4389120"/>
            <a:ext cx="22860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0" y="4407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7A1"/>
                </a:solidFill>
                <a:latin typeface="Montserrat Light" panose="00000400000000000000" pitchFamily="2" charset="-94"/>
              </a:rPr>
              <a:t>These 3 areas separate satisfied from unsatisfied passengers the most.</a:t>
            </a:r>
            <a:endParaRPr lang="en-US" sz="900" dirty="0">
              <a:latin typeface="Montserrat Light" panose="00000400000000000000" pitchFamily="2" charset="-9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87106C-E68A-4027-76A9-5A3D6E43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1018902"/>
            <a:ext cx="6446520" cy="3781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1212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4: Satisfaction by Age Group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309360" y="1005840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10515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7D32"/>
                </a:solidFill>
                <a:latin typeface="Montserrat Medium" panose="00000600000000000000" pitchFamily="2" charset="-94"/>
              </a:rPr>
              <a:t>46–60 age group has the HIGHEST satisfaction rate (57%)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09360" y="1993392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20391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62828"/>
                </a:solidFill>
                <a:latin typeface="Montserrat Medium" panose="00000600000000000000" pitchFamily="2" charset="-94"/>
              </a:rPr>
              <a:t>0–18 and 60+ have the LOWEST satisfaction (≈20%)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09360" y="2980944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3026664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565C0"/>
                </a:solidFill>
                <a:latin typeface="Montserrat Medium" panose="00000600000000000000" pitchFamily="2" charset="-94"/>
              </a:rPr>
              <a:t>Young passengers expect digital services (Wi-Fi, boarding app)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309360" y="3968496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46520" y="401421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8F00"/>
                </a:solidFill>
                <a:latin typeface="Montserrat Medium" panose="00000600000000000000" pitchFamily="2" charset="-94"/>
              </a:rPr>
              <a:t>Older passengers value comfort, assistance &amp; reliability</a:t>
            </a:r>
            <a:endParaRPr lang="en-US" sz="950" dirty="0">
              <a:latin typeface="Montserrat Medium" panose="00000600000000000000" pitchFamily="2" charset="-9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F6F93C-284E-EE4F-EFA9-90AF0960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3" t="6499" r="9078"/>
          <a:stretch>
            <a:fillRect/>
          </a:stretch>
        </p:blipFill>
        <p:spPr>
          <a:xfrm>
            <a:off x="71846" y="1005841"/>
            <a:ext cx="5930537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04CF-9147-C682-15D8-EE3CF99A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0A0ED8-9E3B-557F-21E6-94D859765060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DCD3A"/>
          </a:solidFill>
          <a:ln w="12700">
            <a:solidFill>
              <a:srgbClr val="808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828781-A075-0BE2-5285-BEB3F5C1520A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Passenger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Count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by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Distance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Category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tr-TR" sz="2400" b="1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Travel Class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78382B-8842-6B41-6451-B12C3DB8EB6F}"/>
              </a:ext>
            </a:extLst>
          </p:cNvPr>
          <p:cNvSpPr/>
          <p:nvPr/>
        </p:nvSpPr>
        <p:spPr>
          <a:xfrm>
            <a:off x="6309360" y="1005840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96066FC-16DC-4422-857B-8C279415AEC2}"/>
              </a:ext>
            </a:extLst>
          </p:cNvPr>
          <p:cNvSpPr/>
          <p:nvPr/>
        </p:nvSpPr>
        <p:spPr>
          <a:xfrm>
            <a:off x="6446520" y="10515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E7D32"/>
                </a:solidFill>
                <a:latin typeface="Montserrat Medium" panose="00000600000000000000" pitchFamily="2" charset="-94"/>
              </a:rPr>
              <a:t>Long-distance flights are dominated by Business Class passengers.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71F7006-2902-212C-BDF8-F27B4940F1DD}"/>
              </a:ext>
            </a:extLst>
          </p:cNvPr>
          <p:cNvSpPr/>
          <p:nvPr/>
        </p:nvSpPr>
        <p:spPr>
          <a:xfrm>
            <a:off x="6309360" y="1993392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7BE9DD3-F7A4-AB59-7872-A7FF7A46D327}"/>
              </a:ext>
            </a:extLst>
          </p:cNvPr>
          <p:cNvSpPr/>
          <p:nvPr/>
        </p:nvSpPr>
        <p:spPr>
          <a:xfrm>
            <a:off x="6446520" y="20391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00000"/>
                </a:solidFill>
                <a:latin typeface="Montserrat Medium" panose="00000600000000000000" pitchFamily="2" charset="-94"/>
              </a:rPr>
              <a:t>Economy passengers are the largest group in short and medium-distance flights.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BA6CD2B-8272-3A45-960E-1865B51A749E}"/>
              </a:ext>
            </a:extLst>
          </p:cNvPr>
          <p:cNvSpPr/>
          <p:nvPr/>
        </p:nvSpPr>
        <p:spPr>
          <a:xfrm>
            <a:off x="6309360" y="2980944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DE3836-C938-D80D-CBF8-CE3C4DF9F0A8}"/>
              </a:ext>
            </a:extLst>
          </p:cNvPr>
          <p:cNvSpPr/>
          <p:nvPr/>
        </p:nvSpPr>
        <p:spPr>
          <a:xfrm>
            <a:off x="6446520" y="3026664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Montserrat Medium" panose="00000600000000000000" pitchFamily="2" charset="-94"/>
              </a:rPr>
              <a:t>Eco Plus has the lowest passenger count in all distance categories.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A222BCD-CAEF-A9F6-FF80-58C1C1A7CEED}"/>
              </a:ext>
            </a:extLst>
          </p:cNvPr>
          <p:cNvSpPr/>
          <p:nvPr/>
        </p:nvSpPr>
        <p:spPr>
          <a:xfrm>
            <a:off x="6309360" y="3968496"/>
            <a:ext cx="25603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00EBF0C-5FDC-AF6A-3FD0-0FD48EE0DF5A}"/>
              </a:ext>
            </a:extLst>
          </p:cNvPr>
          <p:cNvSpPr/>
          <p:nvPr/>
        </p:nvSpPr>
        <p:spPr>
          <a:xfrm>
            <a:off x="6446520" y="401421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accent2">
                    <a:lumMod val="50000"/>
                  </a:schemeClr>
                </a:solidFill>
                <a:latin typeface="Montserrat Medium" panose="00000600000000000000" pitchFamily="2" charset="-94"/>
              </a:rPr>
              <a:t>There is potential to improve Business Class offers on short and medium-distance routes.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13DCF-B33B-8F39-2E08-D42B07B23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2"/>
          <a:stretch>
            <a:fillRect/>
          </a:stretch>
        </p:blipFill>
        <p:spPr>
          <a:xfrm>
            <a:off x="93582" y="1005840"/>
            <a:ext cx="6005607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51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98BEF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 |  Finding </a:t>
            </a:r>
            <a:r>
              <a:rPr lang="tr-TR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4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What Correlates with Satisfaction?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60720" y="1051560"/>
            <a:ext cx="310896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115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nsolas" panose="020B0609020204030204" pitchFamily="49" charset="0"/>
              </a:rPr>
              <a:t>Service Quality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97880" y="1463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E7D32"/>
                </a:solidFill>
                <a:latin typeface="Montserrat Medium" panose="00000600000000000000" pitchFamily="2" charset="-94"/>
              </a:rPr>
              <a:t>Average Service Score has the strongest positive relationship with satisfaction.</a:t>
            </a:r>
            <a:br>
              <a:rPr lang="en-US" sz="1000" dirty="0">
                <a:solidFill>
                  <a:srgbClr val="2E7D32"/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rgbClr val="2E7D32"/>
                </a:solidFill>
                <a:latin typeface="Montserrat Medium" panose="00000600000000000000" pitchFamily="2" charset="-94"/>
              </a:rPr>
              <a:t>This means better service leads to higher passenger satisfaction.</a:t>
            </a:r>
          </a:p>
        </p:txBody>
      </p:sp>
      <p:sp>
        <p:nvSpPr>
          <p:cNvPr id="8" name="Shape 5"/>
          <p:cNvSpPr/>
          <p:nvPr/>
        </p:nvSpPr>
        <p:spPr>
          <a:xfrm>
            <a:off x="5760720" y="2514600"/>
            <a:ext cx="3108960" cy="12801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 </a:t>
            </a:r>
            <a:r>
              <a:rPr lang="en-US" sz="1300" b="1" dirty="0">
                <a:solidFill>
                  <a:srgbClr val="C62828"/>
                </a:solidFill>
                <a:latin typeface="Consolas" panose="020B0609020204030204" pitchFamily="49" charset="0"/>
              </a:rPr>
              <a:t>Delays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9788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00000"/>
                </a:solidFill>
                <a:latin typeface="Montserrat Medium" panose="00000600000000000000" pitchFamily="2" charset="-94"/>
              </a:rPr>
              <a:t>Departure and arrival delays have a weak negative relationship with satisfaction.</a:t>
            </a:r>
            <a:br>
              <a:rPr lang="en-US" sz="1000" dirty="0">
                <a:solidFill>
                  <a:srgbClr val="C00000"/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rgbClr val="C00000"/>
                </a:solidFill>
                <a:latin typeface="Montserrat Medium" panose="00000600000000000000" pitchFamily="2" charset="-94"/>
              </a:rPr>
              <a:t>Delays reduce satisfaction, but their effect is lower than service quality.</a:t>
            </a:r>
          </a:p>
        </p:txBody>
      </p:sp>
      <p:sp>
        <p:nvSpPr>
          <p:cNvPr id="11" name="Shape 8"/>
          <p:cNvSpPr/>
          <p:nvPr/>
        </p:nvSpPr>
        <p:spPr>
          <a:xfrm>
            <a:off x="5760720" y="3931920"/>
            <a:ext cx="310896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49" charset="0"/>
              </a:rPr>
              <a:t>Conclusion from Heatmap</a:t>
            </a:r>
            <a:endParaRPr lang="en-US" sz="1000" dirty="0">
              <a:latin typeface="Consolas" panose="020B0609020204030204" pitchFamily="49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978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565C0"/>
                </a:solidFill>
                <a:latin typeface="Montserrat Medium" panose="00000600000000000000" pitchFamily="2" charset="-94"/>
              </a:rPr>
              <a:t>Service quality should be the main priority.</a:t>
            </a:r>
            <a:br>
              <a:rPr lang="en-US" sz="1000" dirty="0">
                <a:solidFill>
                  <a:srgbClr val="1565C0"/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rgbClr val="1565C0"/>
                </a:solidFill>
                <a:latin typeface="Montserrat Medium" panose="00000600000000000000" pitchFamily="2" charset="-94"/>
              </a:rPr>
              <a:t>Delay reduction is still important, but it is a secondary improvement area.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59BE8D-1B51-3355-0BC2-B9A23A237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96" t="1910" r="6277" b="1847"/>
          <a:stretch>
            <a:fillRect/>
          </a:stretch>
        </p:blipFill>
        <p:spPr>
          <a:xfrm>
            <a:off x="182881" y="1051560"/>
            <a:ext cx="5251268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6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600" b="1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|  Recommendations for Management</a:t>
            </a:r>
            <a:endParaRPr lang="en-US" sz="2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73152" cy="1783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C62828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 Improve Key Service Drivers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  <a:t>Online Boarding, Inflight Entertainment, and Seat Comfort have the largest impact on satisfaction.</a:t>
            </a:r>
            <a:b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  <a:t>The airline should improve the mobile boarding process, entertainment system, and seat comfort first.</a:t>
            </a:r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20624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73152" cy="17830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61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8F00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 Improve Economy Class Experience</a:t>
            </a:r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  <a:t>Economy Class has very low satisfaction, but it carries many passengers on short and medium-distance flights.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  <a:t>Better comfort, cleanliness, and basic service can increase the overall satisfaction rate.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20624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73152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565C0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 Grow Business Class on Short &amp; Medium Routes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  <a:t>Business Class is strongest on long-distance flights, but short and medium-distance routes also have growth potential.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-94"/>
              </a:rPr>
              <a:t>The airline can offer priority boarding, flexible tickets, and comfort packages to attract more passengers.</a:t>
            </a:r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20624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73152" cy="1783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7D32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4. Reduce Delays, but Focus First on Service Quality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  <a:t>Delays have a negative effect on satisfaction.</a:t>
            </a:r>
            <a:b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</a:b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Montserrat Medium" panose="00000600000000000000" pitchFamily="2" charset="-94"/>
              </a:rPr>
              <a:t>The airline should continue reducing delays and inform passengers earlier when delays happen.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48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2A5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Final Recommendations</a:t>
            </a:r>
            <a:endParaRPr lang="en-US" sz="2200" b="1" dirty="0">
              <a:solidFill>
                <a:srgbClr val="42A5F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188" y="1592851"/>
            <a:ext cx="6492237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Improve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Online Boarding, Inflight Entertainment, and Seat Comfort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 </a:t>
            </a:r>
            <a:endParaRPr lang="tr-TR" sz="1400" dirty="0">
              <a:solidFill>
                <a:schemeClr val="bg1">
                  <a:lumMod val="95000"/>
                </a:schemeClr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Improve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Economy Class service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, especially on short and medium-distance flights </a:t>
            </a:r>
            <a:endParaRPr lang="tr-TR" sz="1400" dirty="0">
              <a:solidFill>
                <a:schemeClr val="bg1">
                  <a:lumMod val="95000"/>
                </a:schemeClr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Protect strong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Business Class performance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 on long-distance flights </a:t>
            </a:r>
            <a:endParaRPr lang="tr-TR" sz="1400" dirty="0">
              <a:solidFill>
                <a:schemeClr val="bg1">
                  <a:lumMod val="95000"/>
                </a:schemeClr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Develop better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Business Class offers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 for short and medium-distance routes </a:t>
            </a:r>
            <a:endParaRPr lang="tr-TR" sz="1400" dirty="0">
              <a:solidFill>
                <a:schemeClr val="bg1">
                  <a:lumMod val="95000"/>
                </a:schemeClr>
              </a:solidFill>
              <a:latin typeface="Montserrat Medium" panose="00000600000000000000" pitchFamily="2" charset="-94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Continue reducing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departure and arrival delays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Montserrat Medium" panose="00000600000000000000" pitchFamily="2" charset="-94"/>
              </a:rPr>
              <a:t> </a:t>
            </a:r>
          </a:p>
        </p:txBody>
      </p:sp>
      <p:sp>
        <p:nvSpPr>
          <p:cNvPr id="10" name="Shape 8"/>
          <p:cNvSpPr/>
          <p:nvPr/>
        </p:nvSpPr>
        <p:spPr>
          <a:xfrm>
            <a:off x="457188" y="3474803"/>
            <a:ext cx="484632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195" y="3211994"/>
            <a:ext cx="6492236" cy="1070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 you for your attention.</a:t>
            </a:r>
            <a:endParaRPr lang="en-US" sz="1800" dirty="0"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196" y="3828887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A5F5"/>
                </a:solidFill>
                <a:latin typeface="Agency FB" panose="020B0503020202020204" pitchFamily="34" charset="0"/>
              </a:rPr>
              <a:t>Questions are welcome!</a:t>
            </a:r>
            <a:endParaRPr lang="en-US" sz="1300" dirty="0">
              <a:latin typeface="Agency FB" panose="020B0503020202020204" pitchFamily="34" charset="0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FC9FC326-75F9-6F74-5F3F-DB1162E6341B}"/>
              </a:ext>
            </a:extLst>
          </p:cNvPr>
          <p:cNvSpPr/>
          <p:nvPr/>
        </p:nvSpPr>
        <p:spPr>
          <a:xfrm>
            <a:off x="6949438" y="-91440"/>
            <a:ext cx="2286001" cy="530352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103D79"/>
              </a:solidFill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EA653087-50E3-840E-6645-1199DA956445}"/>
              </a:ext>
            </a:extLst>
          </p:cNvPr>
          <p:cNvSpPr/>
          <p:nvPr/>
        </p:nvSpPr>
        <p:spPr>
          <a:xfrm>
            <a:off x="7498080" y="-91440"/>
            <a:ext cx="1737360" cy="5303520"/>
          </a:xfrm>
          <a:prstGeom prst="rect">
            <a:avLst/>
          </a:prstGeom>
          <a:solidFill>
            <a:srgbClr val="42A5F5">
              <a:alpha val="3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05A1E75-4D6B-2EBF-38AA-81B53CA1EDAA}"/>
              </a:ext>
            </a:extLst>
          </p:cNvPr>
          <p:cNvSpPr/>
          <p:nvPr/>
        </p:nvSpPr>
        <p:spPr>
          <a:xfrm>
            <a:off x="0" y="4777740"/>
            <a:ext cx="9144000" cy="571500"/>
          </a:xfrm>
          <a:prstGeom prst="rect">
            <a:avLst/>
          </a:prstGeom>
          <a:solidFill>
            <a:srgbClr val="42A5F5">
              <a:alpha val="3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0" y="557784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</a:rPr>
              <a:t>✈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957</Words>
  <Application>Microsoft Office PowerPoint</Application>
  <PresentationFormat>On-screen Show (16:9)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Agency FB</vt:lpstr>
      <vt:lpstr>Aharoni</vt:lpstr>
      <vt:lpstr>Arial</vt:lpstr>
      <vt:lpstr>Cascadia Code</vt:lpstr>
      <vt:lpstr>Consolas</vt:lpstr>
      <vt:lpstr>Montserrat Light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Satisfaction Analysis</dc:title>
  <dc:subject>PptxGenJS Presentation</dc:subject>
  <dc:creator>Recep Efkan Aykıner</dc:creator>
  <cp:lastModifiedBy>Recep Efkan AYKINER</cp:lastModifiedBy>
  <cp:revision>12</cp:revision>
  <dcterms:created xsi:type="dcterms:W3CDTF">2026-05-23T20:03:12Z</dcterms:created>
  <dcterms:modified xsi:type="dcterms:W3CDTF">2026-05-24T17:38:01Z</dcterms:modified>
</cp:coreProperties>
</file>